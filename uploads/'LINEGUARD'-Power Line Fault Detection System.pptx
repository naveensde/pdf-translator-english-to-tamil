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Migra Extra-Light" panose="020B0604020202020204" charset="0"/>
      <p:regular r:id="rId15"/>
    </p:embeddedFont>
    <p:embeddedFont>
      <p:font typeface="Times New Roman Bold" panose="02020803070505020304" pitchFamily="18" charset="0"/>
      <p:regular r:id="rId16"/>
      <p:bold r:id="rId17"/>
    </p:embeddedFont>
    <p:embeddedFont>
      <p:font typeface="TT Rounds Condensed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9B6A2A-D34F-4D85-94DB-BD90DA8DBDCD}" v="318" dt="2026-02-03T02:53:23.696"/>
    <p1510:client id="{B2EA64F0-519D-FA74-82EC-DFBC31B7DDA0}" v="150" dt="2026-02-03T03:29:28.814"/>
    <p1510:client id="{E1A7CB86-4018-423A-80D4-4880FECFDECB}" v="327" dt="2026-02-03T03:17:54.4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68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4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75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12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13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9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25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3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11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54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65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76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2"/>
          <p:cNvSpPr/>
          <p:nvPr/>
        </p:nvSpPr>
        <p:spPr>
          <a:xfrm>
            <a:off x="32657" y="4898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6"/>
          <p:cNvSpPr txBox="1"/>
          <p:nvPr/>
        </p:nvSpPr>
        <p:spPr>
          <a:xfrm>
            <a:off x="2490047" y="3924713"/>
            <a:ext cx="13495020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"LINEGUARD"- Power Line Fault Detection System</a:t>
            </a: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TextBox 9"/>
          <p:cNvSpPr txBox="1"/>
          <p:nvPr/>
        </p:nvSpPr>
        <p:spPr>
          <a:xfrm>
            <a:off x="1714500" y="6248744"/>
            <a:ext cx="14859000" cy="328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by, </a:t>
            </a:r>
          </a:p>
          <a:p>
            <a:pPr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1(Venkatachalam N)</a:t>
            </a: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2(Naveen V)</a:t>
            </a: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3(Nishanth M)</a:t>
            </a: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4(Naveen Kumar S)</a:t>
            </a: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By, </a:t>
            </a:r>
          </a:p>
          <a:p>
            <a:pPr algn="r">
              <a:lnSpc>
                <a:spcPts val="3240"/>
              </a:lnSpc>
            </a:pPr>
            <a:r>
              <a:rPr lang="en-US" sz="27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Prof.VMC.VENKATRAJA,M.E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.,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" name="Picture 26" descr="C:\Users\Admin\Downloads\logo autonomous full-01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"/>
            <a:ext cx="18288000" cy="3696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76263"/>
            <a:ext cx="15773400" cy="1959770"/>
            <a:chOff x="0" y="0"/>
            <a:chExt cx="21031200" cy="26130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13027"/>
            </a:xfrm>
            <a:custGeom>
              <a:avLst/>
              <a:gdLst/>
              <a:ahLst/>
              <a:cxnLst/>
              <a:rect l="l" t="t" r="r" b="b"/>
              <a:pathLst>
                <a:path w="21031200" h="2613027">
                  <a:moveTo>
                    <a:pt x="0" y="0"/>
                  </a:moveTo>
                  <a:lnTo>
                    <a:pt x="21031200" y="0"/>
                  </a:lnTo>
                  <a:lnTo>
                    <a:pt x="21031200" y="2613027"/>
                  </a:lnTo>
                  <a:lnTo>
                    <a:pt x="0" y="2613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21031200" cy="25749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CONTENTS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48740" y="2174558"/>
            <a:ext cx="7589520" cy="551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1440" lvl="2" indent="-685800" algn="l">
              <a:lnSpc>
                <a:spcPts val="8640"/>
              </a:lnSpc>
              <a:buFont typeface="Wingdings" panose="05000000000000000000" pitchFamily="2" charset="2"/>
              <a:buChar char="Ø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marL="1361440" lvl="2" indent="-685800" algn="l">
              <a:lnSpc>
                <a:spcPts val="8640"/>
              </a:lnSpc>
              <a:buFont typeface="Wingdings" panose="05000000000000000000" pitchFamily="2" charset="2"/>
              <a:buChar char="Ø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  <a:p>
            <a:pPr marL="1361440" lvl="2" indent="-685800" algn="l">
              <a:lnSpc>
                <a:spcPts val="8640"/>
              </a:lnSpc>
              <a:buFont typeface="Wingdings" panose="05000000000000000000" pitchFamily="2" charset="2"/>
              <a:buChar char="Ø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</a:p>
          <a:p>
            <a:pPr marL="1361440" lvl="2" indent="-685800" algn="l">
              <a:lnSpc>
                <a:spcPts val="8640"/>
              </a:lnSpc>
              <a:buFont typeface="Wingdings" panose="05000000000000000000" pitchFamily="2" charset="2"/>
              <a:buChar char="Ø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</a:p>
          <a:p>
            <a:pPr marL="1361440" lvl="2" indent="-685800" algn="l">
              <a:lnSpc>
                <a:spcPts val="8640"/>
              </a:lnSpc>
              <a:buFont typeface="Wingdings" panose="05000000000000000000" pitchFamily="2" charset="2"/>
              <a:buChar char="Ø"/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Requirements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49740" y="2326958"/>
            <a:ext cx="7589520" cy="552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59328" lvl="2" indent="-685800" algn="l">
              <a:lnSpc>
                <a:spcPts val="7808"/>
              </a:lnSpc>
              <a:buFont typeface="Wingdings" panose="05000000000000000000" pitchFamily="2" charset="2"/>
              <a:buChar char="Ø"/>
            </a:pPr>
            <a:r>
              <a:rPr lang="en-US" sz="47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pPr marL="1359328" lvl="2" indent="-685800" algn="l">
              <a:lnSpc>
                <a:spcPts val="7808"/>
              </a:lnSpc>
              <a:buFont typeface="Wingdings" panose="05000000000000000000" pitchFamily="2" charset="2"/>
              <a:buChar char="Ø"/>
            </a:pPr>
            <a:r>
              <a:rPr lang="en-US" sz="47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</a:p>
          <a:p>
            <a:pPr marL="1359328" lvl="2" indent="-685800" algn="l">
              <a:lnSpc>
                <a:spcPts val="7808"/>
              </a:lnSpc>
              <a:buFont typeface="Wingdings" panose="05000000000000000000" pitchFamily="2" charset="2"/>
              <a:buChar char="Ø"/>
            </a:pPr>
            <a:r>
              <a:rPr lang="en-US" sz="47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</a:p>
          <a:p>
            <a:pPr marL="1359328" lvl="2" indent="-685800" algn="l">
              <a:lnSpc>
                <a:spcPts val="7808"/>
              </a:lnSpc>
              <a:buFont typeface="Wingdings" panose="05000000000000000000" pitchFamily="2" charset="2"/>
              <a:buChar char="Ø"/>
            </a:pPr>
            <a:r>
              <a:rPr lang="en-US" sz="47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</a:t>
            </a:r>
          </a:p>
          <a:p>
            <a:pPr marL="1359328" lvl="2" indent="-685800" algn="l">
              <a:lnSpc>
                <a:spcPts val="7808"/>
              </a:lnSpc>
              <a:buFont typeface="Wingdings" panose="05000000000000000000" pitchFamily="2" charset="2"/>
              <a:buChar char="Ø"/>
            </a:pPr>
            <a:r>
              <a:rPr lang="en-US" sz="47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</a:p>
          <a:p>
            <a:pPr marL="1359328" lvl="2" indent="-685800" algn="l">
              <a:lnSpc>
                <a:spcPts val="4134"/>
              </a:lnSpc>
              <a:buFont typeface="Wingdings" panose="05000000000000000000" pitchFamily="2" charset="2"/>
              <a:buChar char="Ø"/>
            </a:pPr>
            <a:endParaRPr lang="en-US" sz="478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76263"/>
            <a:ext cx="15773400" cy="1959770"/>
            <a:chOff x="0" y="0"/>
            <a:chExt cx="21031200" cy="26130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13027"/>
            </a:xfrm>
            <a:custGeom>
              <a:avLst/>
              <a:gdLst/>
              <a:ahLst/>
              <a:cxnLst/>
              <a:rect l="l" t="t" r="r" b="b"/>
              <a:pathLst>
                <a:path w="21031200" h="2613027">
                  <a:moveTo>
                    <a:pt x="0" y="0"/>
                  </a:moveTo>
                  <a:lnTo>
                    <a:pt x="21031200" y="0"/>
                  </a:lnTo>
                  <a:lnTo>
                    <a:pt x="21031200" y="2613027"/>
                  </a:lnTo>
                  <a:lnTo>
                    <a:pt x="0" y="2613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21031200" cy="25749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09DFD1B-D2A0-47EF-0BE4-DFA5C791EB73}"/>
              </a:ext>
            </a:extLst>
          </p:cNvPr>
          <p:cNvSpPr txBox="1"/>
          <p:nvPr/>
        </p:nvSpPr>
        <p:spPr>
          <a:xfrm>
            <a:off x="2367644" y="4188279"/>
            <a:ext cx="13683341" cy="612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Electric power transmission lines carry electricity over long distances from generating stations to consumers.</a:t>
            </a:r>
          </a:p>
          <a:p>
            <a:br>
              <a:rPr lang="en-US" sz="2800"/>
            </a:br>
            <a:r>
              <a:rPr lang="en-US" sz="2800"/>
              <a:t>Due to weather conditions, short circuits, equipment failure, or external damage, faults may occur in transmission lines.</a:t>
            </a:r>
            <a:endParaRPr lang="en-US" sz="2800">
              <a:ea typeface="Calibri"/>
              <a:cs typeface="Calibri"/>
            </a:endParaRPr>
          </a:p>
          <a:p>
            <a:endParaRPr lang="en-US" sz="2800"/>
          </a:p>
          <a:p>
            <a:r>
              <a:rPr lang="en-US" sz="2800"/>
              <a:t>These faults can: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Interrupt power supply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Damage equipment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Increase maintenance cost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Cause safety hazards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/>
              <a:t>Therefore, a fast and accurate </a:t>
            </a:r>
            <a:r>
              <a:rPr lang="en-US" sz="2800" b="1"/>
              <a:t>fault detection system</a:t>
            </a:r>
            <a:r>
              <a:rPr lang="en-US" sz="2800"/>
              <a:t> is required to identify and isolate faults automatically.</a:t>
            </a:r>
            <a:endParaRPr lang="en-US" sz="2800">
              <a:ea typeface="Calibri"/>
              <a:cs typeface="Calibri"/>
            </a:endParaRPr>
          </a:p>
          <a:p>
            <a:pPr algn="ctr"/>
            <a:endParaRPr lang="en-GB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76263"/>
            <a:ext cx="15773400" cy="1544933"/>
            <a:chOff x="0" y="0"/>
            <a:chExt cx="21031200" cy="20599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059911"/>
            </a:xfrm>
            <a:custGeom>
              <a:avLst/>
              <a:gdLst/>
              <a:ahLst/>
              <a:cxnLst/>
              <a:rect l="l" t="t" r="r" b="b"/>
              <a:pathLst>
                <a:path w="21031200" h="2059911">
                  <a:moveTo>
                    <a:pt x="0" y="0"/>
                  </a:moveTo>
                  <a:lnTo>
                    <a:pt x="21031200" y="0"/>
                  </a:lnTo>
                  <a:lnTo>
                    <a:pt x="21031200" y="2059911"/>
                  </a:lnTo>
                  <a:lnTo>
                    <a:pt x="0" y="20599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21031200" cy="20218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ABSTRACT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304801" y="1866901"/>
            <a:ext cx="17983200" cy="7563418"/>
          </a:xfrm>
          <a:custGeom>
            <a:avLst/>
            <a:gdLst/>
            <a:ahLst/>
            <a:cxnLst/>
            <a:rect l="l" t="t" r="r" b="b"/>
            <a:pathLst>
              <a:path w="23405804" h="9315329">
                <a:moveTo>
                  <a:pt x="0" y="0"/>
                </a:moveTo>
                <a:lnTo>
                  <a:pt x="23405804" y="0"/>
                </a:lnTo>
                <a:lnTo>
                  <a:pt x="23405804" y="9315329"/>
                </a:lnTo>
                <a:lnTo>
                  <a:pt x="0" y="93153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8EE37-FA32-1C26-1F82-065DBDEE7B11}"/>
              </a:ext>
            </a:extLst>
          </p:cNvPr>
          <p:cNvSpPr txBox="1"/>
          <p:nvPr/>
        </p:nvSpPr>
        <p:spPr>
          <a:xfrm>
            <a:off x="2302330" y="2596244"/>
            <a:ext cx="13201648" cy="72943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>
                <a:ea typeface="+mn-lt"/>
                <a:cs typeface="+mn-lt"/>
              </a:rPr>
              <a:t>Transmission lines play a vital role in delivering electrical power from generating stations to consumers.</a:t>
            </a:r>
            <a:endParaRPr lang="en-US">
              <a:ea typeface="+mn-lt"/>
              <a:cs typeface="+mn-lt"/>
            </a:endParaRPr>
          </a:p>
          <a:p>
            <a:br>
              <a:rPr lang="en-US" sz="2600">
                <a:ea typeface="+mn-lt"/>
                <a:cs typeface="+mn-lt"/>
              </a:rPr>
            </a:br>
            <a:r>
              <a:rPr lang="en-US" sz="2600">
                <a:ea typeface="+mn-lt"/>
                <a:cs typeface="+mn-lt"/>
              </a:rPr>
              <a:t>However, faults such as short circuits, line breaks, overcurrent, and insulation failure can cause serious power interruptions and equipment damage.</a:t>
            </a:r>
            <a:endParaRPr lang="en-US">
              <a:ea typeface="Calibri"/>
              <a:cs typeface="Calibri"/>
            </a:endParaRPr>
          </a:p>
          <a:p>
            <a:endParaRPr lang="en-US" sz="2600">
              <a:ea typeface="+mn-lt"/>
              <a:cs typeface="+mn-lt"/>
            </a:endParaRPr>
          </a:p>
          <a:p>
            <a:r>
              <a:rPr lang="en-US" sz="2600">
                <a:ea typeface="+mn-lt"/>
                <a:cs typeface="+mn-lt"/>
              </a:rPr>
              <a:t>This project presents an </a:t>
            </a:r>
            <a:r>
              <a:rPr lang="en-US" sz="2600" b="1">
                <a:ea typeface="+mn-lt"/>
                <a:cs typeface="+mn-lt"/>
              </a:rPr>
              <a:t>intelligent transmission line fault detection system</a:t>
            </a:r>
            <a:r>
              <a:rPr lang="en-US" sz="2600">
                <a:ea typeface="+mn-lt"/>
                <a:cs typeface="+mn-lt"/>
              </a:rPr>
              <a:t> that continuously monitors voltage and current parameters in real time using sensors and a microcontroller.</a:t>
            </a:r>
          </a:p>
          <a:p>
            <a:endParaRPr lang="en-US" sz="2600"/>
          </a:p>
          <a:p>
            <a:r>
              <a:rPr lang="en-US" sz="2600"/>
              <a:t>The system is designed to:</a:t>
            </a:r>
            <a:endParaRPr lang="en-US" sz="2600">
              <a:ea typeface="Calibri"/>
              <a:cs typeface="Calibri"/>
            </a:endParaRPr>
          </a:p>
          <a:p>
            <a:r>
              <a:rPr lang="en-US" sz="2600">
                <a:ea typeface="+mn-lt"/>
                <a:cs typeface="+mn-lt"/>
              </a:rPr>
              <a:t>• Detect faults automatically</a:t>
            </a:r>
            <a:br>
              <a:rPr lang="en-US" sz="2600">
                <a:ea typeface="+mn-lt"/>
                <a:cs typeface="+mn-lt"/>
              </a:rPr>
            </a:br>
            <a:r>
              <a:rPr lang="en-US" sz="2600">
                <a:ea typeface="+mn-lt"/>
                <a:cs typeface="+mn-lt"/>
              </a:rPr>
              <a:t>• Classify the type of fault</a:t>
            </a:r>
            <a:br>
              <a:rPr lang="en-US" sz="2600">
                <a:ea typeface="+mn-lt"/>
                <a:cs typeface="+mn-lt"/>
              </a:rPr>
            </a:br>
            <a:r>
              <a:rPr lang="en-US" sz="2600">
                <a:ea typeface="+mn-lt"/>
                <a:cs typeface="+mn-lt"/>
              </a:rPr>
              <a:t>• Send instant alerts to operators</a:t>
            </a:r>
            <a:br>
              <a:rPr lang="en-US" sz="2600">
                <a:ea typeface="+mn-lt"/>
                <a:cs typeface="+mn-lt"/>
              </a:rPr>
            </a:br>
            <a:r>
              <a:rPr lang="en-US" sz="2600">
                <a:ea typeface="+mn-lt"/>
                <a:cs typeface="+mn-lt"/>
              </a:rPr>
              <a:t>• Isolate the faulty section using relays</a:t>
            </a:r>
            <a:br>
              <a:rPr lang="en-US" sz="2600">
                <a:ea typeface="+mn-lt"/>
                <a:cs typeface="+mn-lt"/>
              </a:rPr>
            </a:br>
            <a:r>
              <a:rPr lang="en-US" sz="2600">
                <a:ea typeface="+mn-lt"/>
                <a:cs typeface="+mn-lt"/>
              </a:rPr>
              <a:t>• Reduce outage time and maintenance effort</a:t>
            </a:r>
          </a:p>
          <a:p>
            <a:r>
              <a:rPr lang="en-US" sz="2600">
                <a:ea typeface="+mn-lt"/>
                <a:cs typeface="+mn-lt"/>
              </a:rPr>
              <a:t>By implementing this system, power reliability is improved, manual inspection is minimized, and overall safety of the electrical network is enhanced.</a:t>
            </a:r>
            <a:endParaRPr lang="en-US" sz="2600">
              <a:ea typeface="Calibri"/>
              <a:cs typeface="Calibri"/>
            </a:endParaRPr>
          </a:p>
          <a:p>
            <a:endParaRPr lang="en-US" sz="2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6328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76263"/>
            <a:ext cx="15773400" cy="1959771"/>
            <a:chOff x="0" y="0"/>
            <a:chExt cx="21031200" cy="26130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13027"/>
            </a:xfrm>
            <a:custGeom>
              <a:avLst/>
              <a:gdLst/>
              <a:ahLst/>
              <a:cxnLst/>
              <a:rect l="l" t="t" r="r" b="b"/>
              <a:pathLst>
                <a:path w="21031200" h="2613027">
                  <a:moveTo>
                    <a:pt x="0" y="0"/>
                  </a:moveTo>
                  <a:lnTo>
                    <a:pt x="21031200" y="0"/>
                  </a:lnTo>
                  <a:lnTo>
                    <a:pt x="21031200" y="2613027"/>
                  </a:lnTo>
                  <a:lnTo>
                    <a:pt x="0" y="2613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"/>
              <a:ext cx="21031200" cy="26130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EXISTING SYSTEM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F09E117-015E-F086-4652-751E06A130B8}"/>
              </a:ext>
            </a:extLst>
          </p:cNvPr>
          <p:cNvSpPr txBox="1"/>
          <p:nvPr/>
        </p:nvSpPr>
        <p:spPr>
          <a:xfrm>
            <a:off x="2824843" y="3771901"/>
            <a:ext cx="12670971" cy="612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Currently, many power systems use: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Manual inspection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Periodic checking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Basic protection relays only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endParaRPr lang="en-US" sz="2800"/>
          </a:p>
          <a:p>
            <a:r>
              <a:rPr lang="en-US" sz="2800" b="1"/>
              <a:t>Problems:</a:t>
            </a:r>
            <a:endParaRPr lang="en-US" sz="2800" b="1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Slow fault identification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Requires manpower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Large downtime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High maintenance cost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Not suitable for real-time monitoring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/>
              <a:t>Reality check:</a:t>
            </a:r>
            <a:endParaRPr lang="en-US" sz="2800" b="1">
              <a:ea typeface="Calibri"/>
              <a:cs typeface="Calibri"/>
            </a:endParaRPr>
          </a:p>
          <a:p>
            <a:r>
              <a:rPr lang="en-US" sz="2800"/>
              <a:t>Manual methods are outdated for modern smart grids.</a:t>
            </a:r>
            <a:endParaRPr lang="en-US" sz="2800">
              <a:ea typeface="Calibri"/>
              <a:cs typeface="Calibri"/>
            </a:endParaRPr>
          </a:p>
          <a:p>
            <a:pPr algn="ctr"/>
            <a:endParaRPr lang="en-GB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76263"/>
            <a:ext cx="15773400" cy="1959770"/>
            <a:chOff x="0" y="0"/>
            <a:chExt cx="21031200" cy="26130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13027"/>
            </a:xfrm>
            <a:custGeom>
              <a:avLst/>
              <a:gdLst/>
              <a:ahLst/>
              <a:cxnLst/>
              <a:rect l="l" t="t" r="r" b="b"/>
              <a:pathLst>
                <a:path w="21031200" h="2613027">
                  <a:moveTo>
                    <a:pt x="0" y="0"/>
                  </a:moveTo>
                  <a:lnTo>
                    <a:pt x="21031200" y="0"/>
                  </a:lnTo>
                  <a:lnTo>
                    <a:pt x="21031200" y="2613027"/>
                  </a:lnTo>
                  <a:lnTo>
                    <a:pt x="0" y="2613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21031200" cy="25749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SYSTEM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38547" y="2838587"/>
            <a:ext cx="15590520" cy="8956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   Our system introduces: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Sensors for current &amp; voltage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Microcontroller processing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Real-time monitoring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Automatic fault detection</a:t>
            </a:r>
            <a:endParaRPr lang="en-US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Alert system</a:t>
            </a:r>
            <a:endParaRPr lang="en-US" sz="2800"/>
          </a:p>
          <a:p>
            <a:pPr marL="285750" indent="-285750">
              <a:buFont typeface="Arial"/>
              <a:buChar char="•"/>
            </a:pP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3900" b="1">
                <a:solidFill>
                  <a:srgbClr val="000000"/>
                </a:solidFill>
                <a:latin typeface="Times New Roman Bold"/>
                <a:ea typeface="Calibri"/>
                <a:cs typeface="Times New Roman Bold"/>
              </a:rPr>
              <a:t>ADVANTAGES OF PROPOSED SYSTEM</a:t>
            </a:r>
            <a:endParaRPr lang="en-US" sz="3900">
              <a:solidFill>
                <a:srgbClr val="000000"/>
              </a:solidFill>
              <a:latin typeface="Times New Roman Bold"/>
              <a:ea typeface="Calibri"/>
              <a:cs typeface="Times New Roman Bold"/>
            </a:endParaRPr>
          </a:p>
          <a:p>
            <a:endParaRPr lang="en-US" sz="3900" b="1">
              <a:solidFill>
                <a:srgbClr val="000000"/>
              </a:solidFill>
              <a:latin typeface="Times New Roman Bold"/>
              <a:ea typeface="+mn-lt"/>
              <a:cs typeface="Times New Roman Bold"/>
            </a:endParaRPr>
          </a:p>
          <a:p>
            <a:pPr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Fast detection (milliseconds)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Low cost</a:t>
            </a: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Less human intervention</a:t>
            </a: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Accurate fault location</a:t>
            </a:r>
            <a:endParaRPr lang="en-US" sz="28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Continuous monitoring</a:t>
            </a:r>
            <a:endParaRPr lang="en-US" sz="2800"/>
          </a:p>
          <a:p>
            <a:pPr marL="285750" indent="-285750" algn="l">
              <a:buFont typeface="Arial"/>
              <a:buChar char="•"/>
            </a:pP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546735" lvl="2">
              <a:lnSpc>
                <a:spcPts val="4195"/>
              </a:lnSpc>
            </a:pPr>
            <a:endParaRPr lang="en-US" sz="3850">
              <a:solidFill>
                <a:srgbClr val="000000"/>
              </a:solidFill>
              <a:latin typeface="Times New Roman"/>
              <a:ea typeface="Times New Roman Bold"/>
              <a:cs typeface="Times New Roman"/>
              <a:sym typeface="Times New Roman Bold"/>
            </a:endParaRPr>
          </a:p>
          <a:p>
            <a:pPr marL="546735" lvl="2" algn="l">
              <a:lnSpc>
                <a:spcPts val="4195"/>
              </a:lnSpc>
            </a:pPr>
            <a:r>
              <a:rPr lang="en-US" sz="388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</a:t>
            </a:r>
            <a:endParaRPr lang="en-US" sz="3884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</a:endParaRPr>
          </a:p>
          <a:p>
            <a:pPr marL="546735" lvl="2" algn="l">
              <a:lnSpc>
                <a:spcPts val="4195"/>
              </a:lnSpc>
            </a:pPr>
            <a:endParaRPr lang="en-US" sz="3884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</a:endParaRPr>
          </a:p>
          <a:p>
            <a:pPr marL="546735" lvl="2" algn="l">
              <a:lnSpc>
                <a:spcPts val="4195"/>
              </a:lnSpc>
            </a:pPr>
            <a:r>
              <a:rPr lang="en-US" sz="385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</a:t>
            </a:r>
            <a:endParaRPr lang="en-US" sz="385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78658" y="309949"/>
            <a:ext cx="15773400" cy="1959769"/>
            <a:chOff x="0" y="0"/>
            <a:chExt cx="21031200" cy="26130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13025"/>
            </a:xfrm>
            <a:custGeom>
              <a:avLst/>
              <a:gdLst/>
              <a:ahLst/>
              <a:cxnLst/>
              <a:rect l="l" t="t" r="r" b="b"/>
              <a:pathLst>
                <a:path w="21031200" h="2613025">
                  <a:moveTo>
                    <a:pt x="0" y="0"/>
                  </a:moveTo>
                  <a:lnTo>
                    <a:pt x="21031200" y="0"/>
                  </a:lnTo>
                  <a:lnTo>
                    <a:pt x="21031200" y="2613025"/>
                  </a:lnTo>
                  <a:lnTo>
                    <a:pt x="0" y="26130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21031200" cy="2574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REQUIREMENTS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59682" y="2536033"/>
            <a:ext cx="7736681" cy="717531"/>
            <a:chOff x="0" y="0"/>
            <a:chExt cx="10315575" cy="9567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15575" cy="956709"/>
            </a:xfrm>
            <a:custGeom>
              <a:avLst/>
              <a:gdLst/>
              <a:ahLst/>
              <a:cxnLst/>
              <a:rect l="l" t="t" r="r" b="b"/>
              <a:pathLst>
                <a:path w="10315575" h="956709">
                  <a:moveTo>
                    <a:pt x="0" y="0"/>
                  </a:moveTo>
                  <a:lnTo>
                    <a:pt x="10315575" y="0"/>
                  </a:lnTo>
                  <a:lnTo>
                    <a:pt x="10315575" y="956709"/>
                  </a:lnTo>
                  <a:lnTo>
                    <a:pt x="0" y="9567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0315575" cy="93765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888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HARDWARE REQUIREMENTS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58300" y="2536033"/>
            <a:ext cx="7774782" cy="717531"/>
            <a:chOff x="0" y="0"/>
            <a:chExt cx="10366376" cy="9567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366376" cy="956709"/>
            </a:xfrm>
            <a:custGeom>
              <a:avLst/>
              <a:gdLst/>
              <a:ahLst/>
              <a:cxnLst/>
              <a:rect l="l" t="t" r="r" b="b"/>
              <a:pathLst>
                <a:path w="10366376" h="956709">
                  <a:moveTo>
                    <a:pt x="0" y="0"/>
                  </a:moveTo>
                  <a:lnTo>
                    <a:pt x="10366376" y="0"/>
                  </a:lnTo>
                  <a:lnTo>
                    <a:pt x="10366376" y="956709"/>
                  </a:lnTo>
                  <a:lnTo>
                    <a:pt x="0" y="9567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10366376" cy="93765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3888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SOFTWARE REQUIREMENTS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BE08083-9AC0-B439-15B1-9261FE48AACF}"/>
              </a:ext>
            </a:extLst>
          </p:cNvPr>
          <p:cNvSpPr txBox="1"/>
          <p:nvPr/>
        </p:nvSpPr>
        <p:spPr>
          <a:xfrm>
            <a:off x="1257300" y="3592286"/>
            <a:ext cx="668655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800"/>
              <a:t>Microcontroller (Arduino/ESP32/Raspberry Pi)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Current sensor (CT)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Voltage sensor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Relay module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GSM/</a:t>
            </a:r>
            <a:r>
              <a:rPr lang="en-US" sz="2800" err="1"/>
              <a:t>WiFi</a:t>
            </a:r>
            <a:r>
              <a:rPr lang="en-US" sz="2800"/>
              <a:t> module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Power supply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Transmission line model</a:t>
            </a:r>
            <a:endParaRPr lang="en-US" sz="2800">
              <a:ea typeface="Calibri"/>
              <a:cs typeface="Calibri"/>
            </a:endParaRPr>
          </a:p>
          <a:p>
            <a:pPr algn="ctr"/>
            <a:endParaRPr lang="en-GB" sz="280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A0D358-09A2-C59D-E9E6-91E79F5BDFA4}"/>
              </a:ext>
            </a:extLst>
          </p:cNvPr>
          <p:cNvSpPr txBox="1"/>
          <p:nvPr/>
        </p:nvSpPr>
        <p:spPr>
          <a:xfrm>
            <a:off x="9772650" y="3551465"/>
            <a:ext cx="388620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800"/>
              <a:t>Embedded C / Python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Arduino IDE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Monitoring dashboard (optional)</a:t>
            </a:r>
            <a:endParaRPr lang="en-US" sz="2800">
              <a:ea typeface="Calibri"/>
              <a:cs typeface="Calibri"/>
            </a:endParaRPr>
          </a:p>
          <a:p>
            <a:pPr algn="ctr"/>
            <a:endParaRPr lang="en-GB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97694"/>
            <a:ext cx="15773400" cy="1938339"/>
            <a:chOff x="0" y="0"/>
            <a:chExt cx="21031200" cy="25844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584452"/>
            </a:xfrm>
            <a:custGeom>
              <a:avLst/>
              <a:gdLst/>
              <a:ahLst/>
              <a:cxnLst/>
              <a:rect l="l" t="t" r="r" b="b"/>
              <a:pathLst>
                <a:path w="21031200" h="2584452">
                  <a:moveTo>
                    <a:pt x="0" y="0"/>
                  </a:moveTo>
                  <a:lnTo>
                    <a:pt x="21031200" y="0"/>
                  </a:lnTo>
                  <a:lnTo>
                    <a:pt x="21031200" y="2584452"/>
                  </a:lnTo>
                  <a:lnTo>
                    <a:pt x="0" y="25844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17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MODULES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5559880" y="7305676"/>
            <a:ext cx="16305026" cy="5972174"/>
          </a:xfrm>
          <a:custGeom>
            <a:avLst/>
            <a:gdLst/>
            <a:ahLst/>
            <a:cxnLst/>
            <a:rect l="l" t="t" r="r" b="b"/>
            <a:pathLst>
              <a:path w="21818008" h="7933254">
                <a:moveTo>
                  <a:pt x="0" y="0"/>
                </a:moveTo>
                <a:lnTo>
                  <a:pt x="21818008" y="0"/>
                </a:lnTo>
                <a:lnTo>
                  <a:pt x="21818008" y="7933254"/>
                </a:lnTo>
                <a:lnTo>
                  <a:pt x="0" y="79332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8DA4A-1598-7D4C-F3DE-4107C678E054}"/>
              </a:ext>
            </a:extLst>
          </p:cNvPr>
          <p:cNvSpPr txBox="1"/>
          <p:nvPr/>
        </p:nvSpPr>
        <p:spPr>
          <a:xfrm>
            <a:off x="4972050" y="2375808"/>
            <a:ext cx="8743950" cy="78483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1️⃣ Sensing Module</a:t>
            </a:r>
            <a:endParaRPr lang="en-US" sz="2400" b="1">
              <a:ea typeface="Calibri"/>
              <a:cs typeface="Calibri"/>
            </a:endParaRPr>
          </a:p>
          <a:p>
            <a:r>
              <a:rPr lang="en-US" sz="2400"/>
              <a:t>• Measures voltage and current continuously</a:t>
            </a:r>
            <a:br>
              <a:rPr lang="en-US" sz="2400"/>
            </a:br>
            <a:r>
              <a:rPr lang="en-US" sz="2400"/>
              <a:t>• Uses current transformer and voltage sensor</a:t>
            </a:r>
            <a:br>
              <a:rPr lang="en-US" sz="2400"/>
            </a:br>
            <a:r>
              <a:rPr lang="en-US" sz="2400"/>
              <a:t>• Sends real-time data to controller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 b="1"/>
              <a:t>2️⃣ Processing Module</a:t>
            </a:r>
            <a:endParaRPr lang="en-US" sz="2400" b="1">
              <a:ea typeface="Calibri"/>
              <a:cs typeface="Calibri"/>
            </a:endParaRPr>
          </a:p>
          <a:p>
            <a:r>
              <a:rPr lang="en-US" sz="2400"/>
              <a:t>• Microcontroller collects sensor data</a:t>
            </a:r>
            <a:br>
              <a:rPr lang="en-US" sz="2400"/>
            </a:br>
            <a:r>
              <a:rPr lang="en-US" sz="2400"/>
              <a:t>• Performs signal analysis</a:t>
            </a:r>
            <a:br>
              <a:rPr lang="en-US" sz="2400"/>
            </a:br>
            <a:r>
              <a:rPr lang="en-US" sz="2400"/>
              <a:t>• Compares values with threshold limits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 b="1"/>
              <a:t>3️⃣ Fault Detection Module</a:t>
            </a:r>
            <a:endParaRPr lang="en-US" sz="2400" b="1">
              <a:ea typeface="Calibri"/>
              <a:cs typeface="Calibri"/>
            </a:endParaRPr>
          </a:p>
          <a:p>
            <a:r>
              <a:rPr lang="en-US" sz="2400"/>
              <a:t>• Identifies abnormal conditions</a:t>
            </a:r>
            <a:br>
              <a:rPr lang="en-US" sz="2400"/>
            </a:br>
            <a:r>
              <a:rPr lang="en-US" sz="2400"/>
              <a:t>• Detects short circuit, overload, line break</a:t>
            </a:r>
            <a:br>
              <a:rPr lang="en-US" sz="2400"/>
            </a:br>
            <a:r>
              <a:rPr lang="en-US" sz="2400"/>
              <a:t>• Classifies fault type accurately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 b="1"/>
              <a:t>4️⃣ Protection Module</a:t>
            </a:r>
            <a:endParaRPr lang="en-US" sz="2400" b="1">
              <a:ea typeface="Calibri"/>
              <a:cs typeface="Calibri"/>
            </a:endParaRPr>
          </a:p>
          <a:p>
            <a:r>
              <a:rPr lang="en-US" sz="2400"/>
              <a:t>• Activates relay automatically</a:t>
            </a:r>
            <a:br>
              <a:rPr lang="en-US" sz="2400"/>
            </a:br>
            <a:r>
              <a:rPr lang="en-US" sz="2400"/>
              <a:t>• Isolates faulty section</a:t>
            </a:r>
            <a:br>
              <a:rPr lang="en-US" sz="2400"/>
            </a:br>
            <a:r>
              <a:rPr lang="en-US" sz="2400"/>
              <a:t>• Prevents equipment damage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 b="1"/>
              <a:t>5️⃣ Alert &amp; Monitoring Module</a:t>
            </a:r>
            <a:endParaRPr lang="en-US" sz="2400" b="1">
              <a:ea typeface="Calibri"/>
              <a:cs typeface="Calibri"/>
            </a:endParaRPr>
          </a:p>
          <a:p>
            <a:r>
              <a:rPr lang="en-US" sz="2400"/>
              <a:t>• Sends fault notification (GSM/</a:t>
            </a:r>
            <a:r>
              <a:rPr lang="en-US" sz="2400" err="1"/>
              <a:t>WiFi</a:t>
            </a:r>
            <a:r>
              <a:rPr lang="en-US" sz="2400"/>
              <a:t>)</a:t>
            </a:r>
            <a:br>
              <a:rPr lang="en-US" sz="2400"/>
            </a:br>
            <a:r>
              <a:rPr lang="en-US" sz="2400"/>
              <a:t>• Displays status on system/dashboard</a:t>
            </a:r>
            <a:br>
              <a:rPr lang="en-US" sz="2400"/>
            </a:br>
            <a:r>
              <a:rPr lang="en-US" sz="2400"/>
              <a:t>• Helps quick maintenance action</a:t>
            </a:r>
            <a:endParaRPr lang="en-US" sz="2400">
              <a:ea typeface="Calibri"/>
              <a:cs typeface="Calibri"/>
            </a:endParaRPr>
          </a:p>
          <a:p>
            <a:pPr algn="ctr"/>
            <a:endParaRPr lang="en-GB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82793" y="524113"/>
            <a:ext cx="15773400" cy="2214326"/>
            <a:chOff x="0" y="-367983"/>
            <a:chExt cx="21031200" cy="29524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584452"/>
            </a:xfrm>
            <a:custGeom>
              <a:avLst/>
              <a:gdLst/>
              <a:ahLst/>
              <a:cxnLst/>
              <a:rect l="l" t="t" r="r" b="b"/>
              <a:pathLst>
                <a:path w="21031200" h="2584452">
                  <a:moveTo>
                    <a:pt x="0" y="0"/>
                  </a:moveTo>
                  <a:lnTo>
                    <a:pt x="21031200" y="0"/>
                  </a:lnTo>
                  <a:lnTo>
                    <a:pt x="21031200" y="2584452"/>
                  </a:lnTo>
                  <a:lnTo>
                    <a:pt x="0" y="25844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67983"/>
              <a:ext cx="21031200" cy="2517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KEY FEATURES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4141BE5-4BFA-4274-1F34-CCAAEB7EC778}"/>
              </a:ext>
            </a:extLst>
          </p:cNvPr>
          <p:cNvSpPr txBox="1"/>
          <p:nvPr/>
        </p:nvSpPr>
        <p:spPr>
          <a:xfrm>
            <a:off x="6613071" y="3355521"/>
            <a:ext cx="7535636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rtl="0">
              <a:buFont typeface=""/>
              <a:buChar char="•"/>
            </a:pPr>
            <a:r>
              <a:rPr lang="en-US" sz="3200" baseline="0">
                <a:latin typeface="Calibri"/>
                <a:ea typeface="Arial"/>
                <a:cs typeface="Arial"/>
              </a:rPr>
              <a:t>Real-time monitoring</a:t>
            </a:r>
            <a:r>
              <a:rPr lang="en-US" sz="3200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3200" baseline="0">
                <a:latin typeface="Calibri"/>
                <a:ea typeface="Arial"/>
                <a:cs typeface="Arial"/>
              </a:rPr>
              <a:t>Automatic fault detection</a:t>
            </a:r>
            <a:r>
              <a:rPr lang="en-US" sz="3200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3200" baseline="0">
                <a:latin typeface="Calibri"/>
                <a:ea typeface="Arial"/>
                <a:cs typeface="Arial"/>
              </a:rPr>
              <a:t>Low cost implementation</a:t>
            </a:r>
            <a:r>
              <a:rPr lang="en-US" sz="3200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3200" baseline="0">
                <a:latin typeface="Calibri"/>
                <a:ea typeface="Arial"/>
                <a:cs typeface="Arial"/>
              </a:rPr>
              <a:t>Easy installation</a:t>
            </a:r>
            <a:r>
              <a:rPr lang="en-US" sz="3200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3200" baseline="0">
                <a:latin typeface="Calibri"/>
                <a:ea typeface="Arial"/>
                <a:cs typeface="Arial"/>
              </a:rPr>
              <a:t>Portable design</a:t>
            </a:r>
            <a:r>
              <a:rPr lang="en-US" sz="3200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3200" baseline="0">
                <a:latin typeface="Calibri"/>
                <a:ea typeface="Arial"/>
                <a:cs typeface="Arial"/>
              </a:rPr>
              <a:t>Less maintenance</a:t>
            </a:r>
            <a:r>
              <a:rPr lang="en-US" sz="3200">
                <a:latin typeface="Calibri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3200" baseline="0">
                <a:latin typeface="Calibri"/>
                <a:ea typeface="Arial"/>
                <a:cs typeface="Arial"/>
              </a:rPr>
              <a:t>High reliability</a:t>
            </a:r>
            <a:r>
              <a:rPr lang="en-US" sz="3200">
                <a:latin typeface="Calibri"/>
                <a:ea typeface="Arial"/>
                <a:cs typeface="Arial"/>
              </a:rPr>
              <a:t>​</a:t>
            </a:r>
          </a:p>
          <a:p>
            <a:pPr rtl="0"/>
            <a:endParaRPr lang="en-US" sz="3200">
              <a:latin typeface="Calibri"/>
              <a:ea typeface="Segoe UI"/>
              <a:cs typeface="Segoe UI"/>
            </a:endParaRPr>
          </a:p>
          <a:p>
            <a:pPr algn="ctr" rtl="0"/>
            <a:r>
              <a:rPr lang="en-GB" sz="3200"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419100"/>
            <a:ext cx="15773400" cy="2116933"/>
            <a:chOff x="0" y="-238125"/>
            <a:chExt cx="21031200" cy="28225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584452"/>
            </a:xfrm>
            <a:custGeom>
              <a:avLst/>
              <a:gdLst/>
              <a:ahLst/>
              <a:cxnLst/>
              <a:rect l="l" t="t" r="r" b="b"/>
              <a:pathLst>
                <a:path w="21031200" h="2584452">
                  <a:moveTo>
                    <a:pt x="0" y="0"/>
                  </a:moveTo>
                  <a:lnTo>
                    <a:pt x="21031200" y="0"/>
                  </a:lnTo>
                  <a:lnTo>
                    <a:pt x="21031200" y="2584452"/>
                  </a:lnTo>
                  <a:lnTo>
                    <a:pt x="0" y="25844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38125"/>
              <a:ext cx="21031200" cy="2822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FUTURE ENHANCEMENT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5DE396D-DE7B-6A60-2FE1-2DE182F5AFF8}"/>
              </a:ext>
            </a:extLst>
          </p:cNvPr>
          <p:cNvSpPr txBox="1"/>
          <p:nvPr/>
        </p:nvSpPr>
        <p:spPr>
          <a:xfrm>
            <a:off x="5110842" y="2906486"/>
            <a:ext cx="8605158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Realistic improvements: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AI/ML based prediction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Cloud monitoring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Mobile app dashboard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GPS fault location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Integration with smart grid</a:t>
            </a:r>
            <a:endParaRPr lang="en-US" sz="280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2800"/>
              <a:t>Solar-powered system</a:t>
            </a:r>
            <a:endParaRPr lang="en-US" sz="2800">
              <a:ea typeface="Calibri"/>
              <a:cs typeface="Calibri"/>
            </a:endParaRPr>
          </a:p>
          <a:p>
            <a:pPr algn="ctr"/>
            <a:endParaRPr lang="en-GB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266700"/>
            <a:ext cx="15773400" cy="2269333"/>
            <a:chOff x="0" y="0"/>
            <a:chExt cx="21031200" cy="25844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584452"/>
            </a:xfrm>
            <a:custGeom>
              <a:avLst/>
              <a:gdLst/>
              <a:ahLst/>
              <a:cxnLst/>
              <a:rect l="l" t="t" r="r" b="b"/>
              <a:pathLst>
                <a:path w="21031200" h="2584452">
                  <a:moveTo>
                    <a:pt x="0" y="0"/>
                  </a:moveTo>
                  <a:lnTo>
                    <a:pt x="21031200" y="0"/>
                  </a:lnTo>
                  <a:lnTo>
                    <a:pt x="21031200" y="2584452"/>
                  </a:lnTo>
                  <a:lnTo>
                    <a:pt x="0" y="25844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17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CONCLUSION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6EEC575-64B1-0A54-E3DC-15DBB708948A}"/>
              </a:ext>
            </a:extLst>
          </p:cNvPr>
          <p:cNvSpPr txBox="1"/>
          <p:nvPr/>
        </p:nvSpPr>
        <p:spPr>
          <a:xfrm>
            <a:off x="6229350" y="2930980"/>
            <a:ext cx="7486650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CONCLUSION</a:t>
            </a:r>
            <a:endParaRPr lang="en-US" sz="2800" b="1">
              <a:ea typeface="Calibri"/>
              <a:cs typeface="Calibri"/>
            </a:endParaRPr>
          </a:p>
          <a:p>
            <a:r>
              <a:rPr lang="en-US" sz="2800"/>
              <a:t>• Designed an intelligent transmission line fault detection system</a:t>
            </a:r>
            <a:br>
              <a:rPr lang="en-US" sz="2800"/>
            </a:br>
            <a:r>
              <a:rPr lang="en-US" sz="2800"/>
              <a:t>• Continuously monitors voltage and current parameters</a:t>
            </a:r>
            <a:br>
              <a:rPr lang="en-US" sz="2800"/>
            </a:br>
            <a:r>
              <a:rPr lang="en-US" sz="2800"/>
              <a:t>• Detects and isolates faults automatically</a:t>
            </a:r>
            <a:br>
              <a:rPr lang="en-US" sz="2800"/>
            </a:br>
            <a:r>
              <a:rPr lang="en-US" sz="2800"/>
              <a:t>• Reduces manual inspection and maintenance time</a:t>
            </a:r>
            <a:br>
              <a:rPr lang="en-US" sz="2800"/>
            </a:br>
            <a:r>
              <a:rPr lang="en-US" sz="2800"/>
              <a:t>• Improves reliability and safety of power distribution</a:t>
            </a:r>
            <a:br>
              <a:rPr lang="en-US" sz="2800"/>
            </a:br>
            <a:r>
              <a:rPr lang="en-US" sz="2800"/>
              <a:t>• Low-cost and easy to implement solution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/>
              <a:t>Final Statement</a:t>
            </a:r>
            <a:endParaRPr lang="en-US" sz="2800" b="1">
              <a:ea typeface="Calibri"/>
              <a:cs typeface="Calibri"/>
            </a:endParaRPr>
          </a:p>
          <a:p>
            <a:r>
              <a:rPr lang="en-US" sz="2800"/>
              <a:t>This system provides a simple, fast, and efficient method for protecting transmission lines and ensuring uninterrupted power supply.</a:t>
            </a:r>
            <a:endParaRPr lang="en-US" sz="2800">
              <a:ea typeface="Calibri"/>
              <a:cs typeface="Calibri"/>
            </a:endParaRPr>
          </a:p>
          <a:p>
            <a:pPr algn="ctr"/>
            <a:endParaRPr lang="en-GB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492" y="0"/>
            <a:ext cx="18475778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97694"/>
            <a:ext cx="15773400" cy="1938339"/>
            <a:chOff x="0" y="0"/>
            <a:chExt cx="21031200" cy="25844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584452"/>
            </a:xfrm>
            <a:custGeom>
              <a:avLst/>
              <a:gdLst/>
              <a:ahLst/>
              <a:cxnLst/>
              <a:rect l="l" t="t" r="r" b="b"/>
              <a:pathLst>
                <a:path w="21031200" h="2584452">
                  <a:moveTo>
                    <a:pt x="0" y="0"/>
                  </a:moveTo>
                  <a:lnTo>
                    <a:pt x="21031200" y="0"/>
                  </a:lnTo>
                  <a:lnTo>
                    <a:pt x="21031200" y="2584452"/>
                  </a:lnTo>
                  <a:lnTo>
                    <a:pt x="0" y="25844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17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REFERENCE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82D6D05-680C-DC50-7821-B7D47BE4CB01}"/>
              </a:ext>
            </a:extLst>
          </p:cNvPr>
          <p:cNvSpPr txBox="1"/>
          <p:nvPr/>
        </p:nvSpPr>
        <p:spPr>
          <a:xfrm>
            <a:off x="6155872" y="2522765"/>
            <a:ext cx="7560128" cy="655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• </a:t>
            </a:r>
            <a:r>
              <a:rPr lang="en-US" sz="2800" b="1">
                <a:ea typeface="+mn-lt"/>
                <a:cs typeface="+mn-lt"/>
              </a:rPr>
              <a:t>IEEE Xplore Digital Library</a:t>
            </a:r>
            <a:r>
              <a:rPr lang="en-US" sz="2800">
                <a:ea typeface="+mn-lt"/>
                <a:cs typeface="+mn-lt"/>
              </a:rPr>
              <a:t> – Research papers on transmission line fault detection and smart grid protection</a:t>
            </a:r>
            <a:endParaRPr lang="en-US"/>
          </a:p>
          <a:p>
            <a:r>
              <a:rPr lang="en-US" sz="2800">
                <a:ea typeface="+mn-lt"/>
                <a:cs typeface="+mn-lt"/>
              </a:rPr>
              <a:t>• </a:t>
            </a:r>
            <a:r>
              <a:rPr lang="en-US" sz="2800" b="1">
                <a:ea typeface="+mn-lt"/>
                <a:cs typeface="+mn-lt"/>
              </a:rPr>
              <a:t>Power System Protection and Switchgear – B. Ravindranath &amp; M. Chander</a:t>
            </a:r>
            <a:endParaRPr lang="en-US"/>
          </a:p>
          <a:p>
            <a:r>
              <a:rPr lang="en-US" sz="2800">
                <a:ea typeface="+mn-lt"/>
                <a:cs typeface="+mn-lt"/>
              </a:rPr>
              <a:t>• </a:t>
            </a:r>
            <a:r>
              <a:rPr lang="en-US" sz="2800" b="1">
                <a:ea typeface="+mn-lt"/>
                <a:cs typeface="+mn-lt"/>
              </a:rPr>
              <a:t>Power System Analysis and Design – J. Duncan Glover, </a:t>
            </a:r>
            <a:r>
              <a:rPr lang="en-US" sz="2800" b="1" err="1">
                <a:ea typeface="+mn-lt"/>
                <a:cs typeface="+mn-lt"/>
              </a:rPr>
              <a:t>Mulukutla</a:t>
            </a:r>
            <a:r>
              <a:rPr lang="en-US" sz="2800" b="1">
                <a:ea typeface="+mn-lt"/>
                <a:cs typeface="+mn-lt"/>
              </a:rPr>
              <a:t> S. Sarma, Thomas Overbye</a:t>
            </a:r>
            <a:endParaRPr lang="en-US"/>
          </a:p>
          <a:p>
            <a:r>
              <a:rPr lang="en-US" sz="2800">
                <a:ea typeface="+mn-lt"/>
                <a:cs typeface="+mn-lt"/>
              </a:rPr>
              <a:t>• </a:t>
            </a:r>
            <a:r>
              <a:rPr lang="en-US" sz="2800" b="1">
                <a:ea typeface="+mn-lt"/>
                <a:cs typeface="+mn-lt"/>
              </a:rPr>
              <a:t>Arduino Official Documentation</a:t>
            </a:r>
            <a:r>
              <a:rPr lang="en-US" sz="2800">
                <a:ea typeface="+mn-lt"/>
                <a:cs typeface="+mn-lt"/>
              </a:rPr>
              <a:t> – Microcontroller programming and hardware interfacing</a:t>
            </a:r>
            <a:endParaRPr lang="en-US"/>
          </a:p>
          <a:p>
            <a:r>
              <a:rPr lang="en-US" sz="2800">
                <a:ea typeface="+mn-lt"/>
                <a:cs typeface="+mn-lt"/>
              </a:rPr>
              <a:t>• Current Transformer (CT) and Voltage Sensor Datasheets – Manufacturer specifications</a:t>
            </a:r>
            <a:endParaRPr lang="en-US"/>
          </a:p>
          <a:p>
            <a:r>
              <a:rPr lang="en-US" sz="2800">
                <a:ea typeface="+mn-lt"/>
                <a:cs typeface="+mn-lt"/>
              </a:rPr>
              <a:t>• Research articles on Smart Grid Monitoring and Fault Classification Techniques</a:t>
            </a:r>
            <a:endParaRPr lang="en-US"/>
          </a:p>
          <a:p>
            <a:endParaRPr lang="en-US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074" b="-807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72702" y="4009860"/>
            <a:ext cx="10833897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70"/>
              </a:lnSpc>
            </a:pPr>
            <a:r>
              <a:rPr lang="en-US" sz="15970" spc="495">
                <a:solidFill>
                  <a:srgbClr val="202917"/>
                </a:solidFill>
                <a:latin typeface="Migra Extra-Light"/>
                <a:ea typeface="Migra Extra-Light"/>
                <a:cs typeface="Migra Extra-Light"/>
                <a:sym typeface="Migra Extra-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WEBGUARDX.pptx_20251111_211431_0000.pptx</dc:title>
  <dc:creator>Lab</dc:creator>
  <cp:revision>3</cp:revision>
  <dcterms:created xsi:type="dcterms:W3CDTF">2006-08-16T00:00:00Z</dcterms:created>
  <dcterms:modified xsi:type="dcterms:W3CDTF">2026-02-03T03:34:14Z</dcterms:modified>
  <dc:identifier>DAG4cy1cIkw</dc:identifier>
</cp:coreProperties>
</file>